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c1791f5-0ce7-7191-353d-4df51a4492cf}">
          <p14:sldIdLst>
            <p14:sldId id="256"/>
            <p14:sldId id="257"/>
          </p14:sldIdLst>
        </p14:section>
        <p14:section name="Basics" id="{e643255c-1032-a2c5-cd81-1f4da2018e47}">
          <p14:sldIdLst>
            <p14:sldId id="258"/>
            <p14:sldId id="259"/>
          </p14:sldIdLst>
        </p14:section>
        <p14:section name="Content" id="{ebdae8aa-04bd-04ff-02ff-e11255a89d29}">
          <p14:sldIdLst>
            <p14:sldId id="260"/>
            <p14:sldId id="261"/>
          </p14:sldIdLst>
        </p14:section>
        <p14:section name="Situations" id="{065cb283-8033-92f8-d808-a22b4a2e5fd1}">
          <p14:sldIdLst>
            <p14:sldId id="262"/>
          </p14:sldIdLst>
        </p14:section>
        <p14:section name="Interviews" id="{c148cf80-a742-e7d4-c6dc-c5720893f0e6}">
          <p14:sldIdLst>
            <p14:sldId id="263"/>
            <p14:sldId id="264"/>
          </p14:sldIdLst>
        </p14:section>
        <p14:section name="ATS" id="{a0f1a93a-e7d3-005f-c16c-b2ea16227048}">
          <p14:sldIdLst>
            <p14:sldId id="265"/>
          </p14:sldIdLst>
        </p14:section>
        <p14:section name="Wrap-up" id="{3aaceac6-7d56-c367-8f8c-a2d30ed8f35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guide covers the questions job seekers ask most about resumes: basics, content, special situations, interviews, ATS, and a final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short sections. Use it as a reference: jump to the section that matches your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to one page under ten years of experience. Two pages at most for senior roles. Reverse-chronological (newest first) is the default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in most countries, leave out photo, age, and marital status. Include them only if local convention or the employer requires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3–5 bullets per role, most relevant first. Add numbers wherever you can: money, percentages, time saved, team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only skills you can discuss in an interview. Education: degree, school, graduation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explain why you left a job on the resume. Save that for the interview, and keep it short, positive, and forward-looking.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most of your time on Action and Result. Do not read the page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inflate titles, dates, or numbers. Discrepancies can cost you an offer.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ATS stores and sorts applications; recruiters often search it by keyword. Use both the spelled-out form and the abbreviation once, e.g. search engine optimization (SEO).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friend or mentor to review before you 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keep a master resume, tailor each copy, and be ready to discuss every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1887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83464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727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Resume Questions &amp; Answers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1887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Resume Questions &amp; Answers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practical guide to writing, tailoring, and defending your resume</a:t>
            </a:r>
            <a:endParaRPr lang="en-US" sz="1800" dirty="0"/>
          </a:p>
        </p:txBody>
      </p:sp>
      <p:sp>
        <p:nvSpPr>
          <p:cNvPr id="4" name="Resume circle"/>
          <p:cNvSpPr/>
          <p:nvPr/>
        </p:nvSpPr>
        <p:spPr>
          <a:xfrm>
            <a:off x="6766560" y="1554480"/>
            <a:ext cx="1645920" cy="1645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Resume icon" descr="Resu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0958" y="1998878"/>
            <a:ext cx="757123" cy="7571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is inside</a:t>
            </a:r>
            <a:endParaRPr lang="en-US" sz="3200" dirty="0"/>
          </a:p>
        </p:txBody>
      </p:sp>
      <p:sp>
        <p:nvSpPr>
          <p:cNvPr id="3" name="Card Basics"/>
          <p:cNvSpPr/>
          <p:nvPr/>
        </p:nvSpPr>
        <p:spPr>
          <a:xfrm>
            <a:off x="5486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 1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47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Basics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Length, format, sections, file type</a:t>
            </a:r>
            <a:endParaRPr lang="en-US" sz="1400" dirty="0"/>
          </a:p>
        </p:txBody>
      </p:sp>
      <p:sp>
        <p:nvSpPr>
          <p:cNvPr id="8" name="Card Content"/>
          <p:cNvSpPr/>
          <p:nvPr/>
        </p:nvSpPr>
        <p:spPr>
          <a:xfrm>
            <a:off x="32918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2"/>
          <p:cNvSpPr/>
          <p:nvPr/>
        </p:nvSpPr>
        <p:spPr>
          <a:xfrm>
            <a:off x="347472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47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Content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Summary, experience, skills, education</a:t>
            </a:r>
            <a:endParaRPr lang="en-US" sz="1400" dirty="0"/>
          </a:p>
        </p:txBody>
      </p:sp>
      <p:sp>
        <p:nvSpPr>
          <p:cNvPr id="13" name="Card Special cases"/>
          <p:cNvSpPr/>
          <p:nvPr/>
        </p:nvSpPr>
        <p:spPr>
          <a:xfrm>
            <a:off x="60350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47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Special cases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Career change, gaps, no experience</a:t>
            </a:r>
            <a:endParaRPr lang="en-US" sz="1400" dirty="0"/>
          </a:p>
        </p:txBody>
      </p:sp>
      <p:sp>
        <p:nvSpPr>
          <p:cNvPr id="18" name="Card Interviews"/>
          <p:cNvSpPr/>
          <p:nvPr/>
        </p:nvSpPr>
        <p:spPr>
          <a:xfrm>
            <a:off x="548640" y="297180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ber 4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593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Interviews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Answering questions about your resume</a:t>
            </a:r>
            <a:endParaRPr lang="en-US" sz="1400" dirty="0"/>
          </a:p>
        </p:txBody>
      </p:sp>
      <p:sp>
        <p:nvSpPr>
          <p:cNvPr id="23" name="Card ATS"/>
          <p:cNvSpPr/>
          <p:nvPr/>
        </p:nvSpPr>
        <p:spPr>
          <a:xfrm>
            <a:off x="3291840" y="297180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ber 5"/>
          <p:cNvSpPr/>
          <p:nvPr/>
        </p:nvSpPr>
        <p:spPr>
          <a:xfrm>
            <a:off x="3474720" y="31089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593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Keywords and software-friendly layout</a:t>
            </a:r>
            <a:endParaRPr lang="en-US" sz="1400" dirty="0"/>
          </a:p>
        </p:txBody>
      </p:sp>
      <p:sp>
        <p:nvSpPr>
          <p:cNvPr id="28" name="Card Checklist"/>
          <p:cNvSpPr/>
          <p:nvPr/>
        </p:nvSpPr>
        <p:spPr>
          <a:xfrm>
            <a:off x="6035040" y="297180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ber 6"/>
          <p:cNvSpPr/>
          <p:nvPr/>
        </p:nvSpPr>
        <p:spPr>
          <a:xfrm>
            <a:off x="6217920" y="31089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593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Checklist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Final checks before you send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page is usually enough</a:t>
            </a:r>
            <a:endParaRPr lang="en-US" sz="3200" dirty="0"/>
          </a:p>
        </p:txBody>
      </p:sp>
      <p:sp>
        <p:nvSpPr>
          <p:cNvPr id="3" name="Stat 1"/>
          <p:cNvSpPr/>
          <p:nvPr/>
        </p:nvSpPr>
        <p:spPr>
          <a:xfrm>
            <a:off x="548640" y="1325880"/>
            <a:ext cx="25603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page for under ten years of experience</a:t>
            </a:r>
            <a:endParaRPr lang="en-US" sz="1500" dirty="0"/>
          </a:p>
        </p:txBody>
      </p:sp>
      <p:sp>
        <p:nvSpPr>
          <p:cNvPr id="6" name="Stat 2"/>
          <p:cNvSpPr/>
          <p:nvPr/>
        </p:nvSpPr>
        <p:spPr>
          <a:xfrm>
            <a:off x="3291840" y="1325880"/>
            <a:ext cx="25603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463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2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pages at most, for senior roles</a:t>
            </a:r>
            <a:endParaRPr lang="en-US" sz="1500" dirty="0"/>
          </a:p>
        </p:txBody>
      </p:sp>
      <p:sp>
        <p:nvSpPr>
          <p:cNvPr id="9" name="Stat 3"/>
          <p:cNvSpPr/>
          <p:nvPr/>
        </p:nvSpPr>
        <p:spPr>
          <a:xfrm>
            <a:off x="6035040" y="1325880"/>
            <a:ext cx="25603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63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10–15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years back is usually enough; cut older roles</a:t>
            </a:r>
            <a:endParaRPr lang="en-US" sz="1500" dirty="0"/>
          </a:p>
        </p:txBody>
      </p:sp>
      <p:sp>
        <p:nvSpPr>
          <p:cNvPr id="12" name="Format band"/>
          <p:cNvSpPr/>
          <p:nvPr/>
        </p:nvSpPr>
        <p:spPr>
          <a:xfrm>
            <a:off x="548640" y="3611880"/>
            <a:ext cx="804672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576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Format: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reverse-chronological suits most people. Use a combination format only when changing careers or managing gaps.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Sections every resume needs</a:t>
            </a:r>
            <a:endParaRPr lang="en-US" sz="3200" dirty="0"/>
          </a:p>
        </p:txBody>
      </p:sp>
      <p:sp>
        <p:nvSpPr>
          <p:cNvPr id="3" name="Sections card"/>
          <p:cNvSpPr/>
          <p:nvPr/>
        </p:nvSpPr>
        <p:spPr>
          <a:xfrm>
            <a:off x="548640" y="132588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Include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Contact details and LinkedIn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Professional summary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 experience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Skills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Education and certifications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Optional: projects, volunteering, languages</a:t>
            </a:r>
            <a:endParaRPr lang="en-US" sz="1600" dirty="0"/>
          </a:p>
        </p:txBody>
      </p:sp>
      <p:sp>
        <p:nvSpPr>
          <p:cNvPr id="6" name="PDF card"/>
          <p:cNvSpPr/>
          <p:nvPr/>
        </p:nvSpPr>
        <p:spPr>
          <a:xfrm>
            <a:off x="4663440" y="1325880"/>
            <a:ext cx="39319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DF circle"/>
          <p:cNvSpPr/>
          <p:nvPr/>
        </p:nvSpPr>
        <p:spPr>
          <a:xfrm>
            <a:off x="4892040" y="15727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PDF icon" descr="P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0173" y="1720901"/>
            <a:ext cx="252374" cy="2523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23560" y="1481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PDF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default. Keeps your layout fixed on every device.</a:t>
            </a:r>
            <a:endParaRPr lang="en-US" sz="1400" dirty="0"/>
          </a:p>
        </p:txBody>
      </p:sp>
      <p:sp>
        <p:nvSpPr>
          <p:cNvPr id="11" name="Word card"/>
          <p:cNvSpPr/>
          <p:nvPr/>
        </p:nvSpPr>
        <p:spPr>
          <a:xfrm>
            <a:off x="4663440" y="2926080"/>
            <a:ext cx="39319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Word circle"/>
          <p:cNvSpPr/>
          <p:nvPr/>
        </p:nvSpPr>
        <p:spPr>
          <a:xfrm>
            <a:off x="4892040" y="317296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Word icon" descr="W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173" y="3321101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23560" y="3081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Word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623560" y="3383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it when the posting asks, or when an older ATS reads it more reliably.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Show results, not duties</a:t>
            </a:r>
            <a:endParaRPr lang="en-US" sz="3200" dirty="0"/>
          </a:p>
        </p:txBody>
      </p:sp>
      <p:sp>
        <p:nvSpPr>
          <p:cNvPr id="3" name="Formula 1"/>
          <p:cNvSpPr/>
          <p:nvPr/>
        </p:nvSpPr>
        <p:spPr>
          <a:xfrm>
            <a:off x="548640" y="1325880"/>
            <a:ext cx="237744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Action verb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325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+</a:t>
            </a:r>
            <a:endParaRPr lang="en-US" sz="2400" dirty="0"/>
          </a:p>
        </p:txBody>
      </p:sp>
      <p:sp>
        <p:nvSpPr>
          <p:cNvPr id="6" name="Formula 2"/>
          <p:cNvSpPr/>
          <p:nvPr/>
        </p:nvSpPr>
        <p:spPr>
          <a:xfrm>
            <a:off x="3383280" y="1325880"/>
            <a:ext cx="237744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What you did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325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+</a:t>
            </a:r>
            <a:endParaRPr lang="en-US" sz="2400" dirty="0"/>
          </a:p>
        </p:txBody>
      </p:sp>
      <p:sp>
        <p:nvSpPr>
          <p:cNvPr id="9" name="Formula 3"/>
          <p:cNvSpPr/>
          <p:nvPr/>
        </p:nvSpPr>
        <p:spPr>
          <a:xfrm>
            <a:off x="6217920" y="1325880"/>
            <a:ext cx="237744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The result</a:t>
            </a:r>
            <a:endParaRPr lang="en-US" sz="1600" dirty="0"/>
          </a:p>
        </p:txBody>
      </p:sp>
      <p:sp>
        <p:nvSpPr>
          <p:cNvPr id="11" name="Weak example"/>
          <p:cNvSpPr/>
          <p:nvPr/>
        </p:nvSpPr>
        <p:spPr>
          <a:xfrm>
            <a:off x="548640" y="2194560"/>
            <a:ext cx="39319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DUTY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“Responsible for customer support.”</a:t>
            </a:r>
            <a:endParaRPr lang="en-US" sz="1700" dirty="0"/>
          </a:p>
        </p:txBody>
      </p:sp>
      <p:sp>
        <p:nvSpPr>
          <p:cNvPr id="14" name="Strong example"/>
          <p:cNvSpPr/>
          <p:nvPr/>
        </p:nvSpPr>
        <p:spPr>
          <a:xfrm>
            <a:off x="4663440" y="2194560"/>
            <a:ext cx="3931920" cy="1417320"/>
          </a:xfrm>
          <a:prstGeom prst="roundRect">
            <a:avLst>
              <a:gd name="adj" fmla="val 64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RESULT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6517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“Resolved 40+ tickets daily and raised satisfaction from 82% to 94%.”</a:t>
            </a:r>
            <a:endParaRPr lang="en-US" sz="1700" dirty="0"/>
          </a:p>
        </p:txBody>
      </p:sp>
      <p:sp>
        <p:nvSpPr>
          <p:cNvPr id="17" name="Summary tip"/>
          <p:cNvSpPr/>
          <p:nvPr/>
        </p:nvSpPr>
        <p:spPr>
          <a:xfrm>
            <a:off x="548640" y="3794760"/>
            <a:ext cx="80467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p circ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Tip icon" descr="T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4009644"/>
            <a:ext cx="210312" cy="21031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371600" y="37947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Summary: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2–3 sentences with your role, years of experience, and strongest result.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Skills, education, references</a:t>
            </a:r>
            <a:endParaRPr lang="en-US" sz="3200" dirty="0"/>
          </a:p>
        </p:txBody>
      </p:sp>
      <p:sp>
        <p:nvSpPr>
          <p:cNvPr id="3" name="Card Skills"/>
          <p:cNvSpPr/>
          <p:nvPr/>
        </p:nvSpPr>
        <p:spPr>
          <a:xfrm>
            <a:off x="54864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kills circle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kills icon" descr="Ski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173964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Skills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52928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Match the job posting. Group them (Tools, Languages, Methods). Skip vague terms.</a:t>
            </a:r>
            <a:endParaRPr lang="en-US" sz="1600" dirty="0"/>
          </a:p>
        </p:txBody>
      </p:sp>
      <p:sp>
        <p:nvSpPr>
          <p:cNvPr id="8" name="Card Education"/>
          <p:cNvSpPr/>
          <p:nvPr/>
        </p:nvSpPr>
        <p:spPr>
          <a:xfrm>
            <a:off x="329184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ducation circle"/>
          <p:cNvSpPr/>
          <p:nvPr/>
        </p:nvSpPr>
        <p:spPr>
          <a:xfrm>
            <a:off x="3520440" y="15544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Education icon" descr="Edu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606" y="1739646"/>
            <a:ext cx="315468" cy="3154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Education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852928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After experience if you have 2–3+ years of work; before it for recent graduates. GPA only if strong.</a:t>
            </a:r>
            <a:endParaRPr lang="en-US" sz="1600" dirty="0"/>
          </a:p>
        </p:txBody>
      </p:sp>
      <p:sp>
        <p:nvSpPr>
          <p:cNvPr id="13" name="Card References"/>
          <p:cNvSpPr/>
          <p:nvPr/>
        </p:nvSpPr>
        <p:spPr>
          <a:xfrm>
            <a:off x="603504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ferences circle"/>
          <p:cNvSpPr/>
          <p:nvPr/>
        </p:nvSpPr>
        <p:spPr>
          <a:xfrm>
            <a:off x="6263640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References icon" descr="Referenc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806" y="1739646"/>
            <a:ext cx="315468" cy="3154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References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852928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Leave them off. Add “available on request” only if space allows.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Hard cases, handled honestly</a:t>
            </a:r>
            <a:endParaRPr lang="en-US" sz="3200" dirty="0"/>
          </a:p>
        </p:txBody>
      </p:sp>
      <p:sp>
        <p:nvSpPr>
          <p:cNvPr id="3" name="Card Career change"/>
          <p:cNvSpPr/>
          <p:nvPr/>
        </p:nvSpPr>
        <p:spPr>
          <a:xfrm>
            <a:off x="54864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eer change circle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areer change icon" descr="Career ch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717" y="171495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Career change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 with a summary naming your target role. Highlight transferable skills.</a:t>
            </a:r>
            <a:endParaRPr lang="en-US" sz="1400" dirty="0"/>
          </a:p>
        </p:txBody>
      </p:sp>
      <p:sp>
        <p:nvSpPr>
          <p:cNvPr id="8" name="Card Employment gap"/>
          <p:cNvSpPr/>
          <p:nvPr/>
        </p:nvSpPr>
        <p:spPr>
          <a:xfrm>
            <a:off x="466344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mployment gap circle"/>
          <p:cNvSpPr/>
          <p:nvPr/>
        </p:nvSpPr>
        <p:spPr>
          <a:xfrm>
            <a:off x="4892040" y="15544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Employment gap icon" descr="Employment g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517" y="171495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Employment gap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 honest and brief. Add one line, plus any courses or freelance work.</a:t>
            </a:r>
            <a:endParaRPr lang="en-US" sz="1400" dirty="0"/>
          </a:p>
        </p:txBody>
      </p:sp>
      <p:sp>
        <p:nvSpPr>
          <p:cNvPr id="13" name="Card No experience"/>
          <p:cNvSpPr/>
          <p:nvPr/>
        </p:nvSpPr>
        <p:spPr>
          <a:xfrm>
            <a:off x="548640" y="297180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o experience circle"/>
          <p:cNvSpPr/>
          <p:nvPr/>
        </p:nvSpPr>
        <p:spPr>
          <a:xfrm>
            <a:off x="777240" y="3200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No experience icon" descr="No experie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17" y="3360877"/>
            <a:ext cx="273406" cy="2734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 experience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internships, projects, volunteering, and coursework. Show results.</a:t>
            </a:r>
            <a:endParaRPr lang="en-US" sz="1400" dirty="0"/>
          </a:p>
        </p:txBody>
      </p:sp>
      <p:sp>
        <p:nvSpPr>
          <p:cNvPr id="18" name="Card Frequent job changes"/>
          <p:cNvSpPr/>
          <p:nvPr/>
        </p:nvSpPr>
        <p:spPr>
          <a:xfrm>
            <a:off x="4663440" y="297180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requent job changes circle"/>
          <p:cNvSpPr/>
          <p:nvPr/>
        </p:nvSpPr>
        <p:spPr>
          <a:xfrm>
            <a:off x="4892040" y="32004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Frequent job changes icon" descr="Frequent job chang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517" y="3360877"/>
            <a:ext cx="273406" cy="27340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Frequent job changes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Group short contracts under one heading. Focus on what you achieved.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Answer with the STAR method</a:t>
            </a:r>
            <a:endParaRPr lang="en-US" sz="3200" dirty="0"/>
          </a:p>
        </p:txBody>
      </p:sp>
      <p:sp>
        <p:nvSpPr>
          <p:cNvPr id="3" name="STAR Situation"/>
          <p:cNvSpPr/>
          <p:nvPr/>
        </p:nvSpPr>
        <p:spPr>
          <a:xfrm>
            <a:off x="548640" y="132588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R letter S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Situation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614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the scene briefly</a:t>
            </a:r>
            <a:endParaRPr lang="en-US" sz="1400" dirty="0"/>
          </a:p>
        </p:txBody>
      </p:sp>
      <p:sp>
        <p:nvSpPr>
          <p:cNvPr id="8" name="STAR Task"/>
          <p:cNvSpPr/>
          <p:nvPr/>
        </p:nvSpPr>
        <p:spPr>
          <a:xfrm>
            <a:off x="2606040" y="132588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R letter T"/>
          <p:cNvSpPr/>
          <p:nvPr/>
        </p:nvSpPr>
        <p:spPr>
          <a:xfrm>
            <a:off x="2834640" y="1508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Task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7614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you were responsible for</a:t>
            </a:r>
            <a:endParaRPr lang="en-US" sz="1400" dirty="0"/>
          </a:p>
        </p:txBody>
      </p:sp>
      <p:sp>
        <p:nvSpPr>
          <p:cNvPr id="13" name="STAR Action"/>
          <p:cNvSpPr/>
          <p:nvPr/>
        </p:nvSpPr>
        <p:spPr>
          <a:xfrm>
            <a:off x="4663440" y="132588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AR letter A"/>
          <p:cNvSpPr/>
          <p:nvPr/>
        </p:nvSpPr>
        <p:spPr>
          <a:xfrm>
            <a:off x="4892040" y="15087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7614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you did, step by step</a:t>
            </a:r>
            <a:endParaRPr lang="en-US" sz="1400" dirty="0"/>
          </a:p>
        </p:txBody>
      </p:sp>
      <p:sp>
        <p:nvSpPr>
          <p:cNvPr id="18" name="STAR Result"/>
          <p:cNvSpPr/>
          <p:nvPr/>
        </p:nvSpPr>
        <p:spPr>
          <a:xfrm>
            <a:off x="6720840" y="132588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AR letter R"/>
          <p:cNvSpPr/>
          <p:nvPr/>
        </p:nvSpPr>
        <p:spPr>
          <a:xfrm>
            <a:off x="6949440" y="15087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Result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7614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measurable outcome</a:t>
            </a:r>
            <a:endParaRPr lang="en-US" sz="1400" dirty="0"/>
          </a:p>
        </p:txBody>
      </p:sp>
      <p:sp>
        <p:nvSpPr>
          <p:cNvPr id="23" name="Walk-through band"/>
          <p:cNvSpPr/>
          <p:nvPr/>
        </p:nvSpPr>
        <p:spPr>
          <a:xfrm>
            <a:off x="548640" y="3611880"/>
            <a:ext cx="80467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6576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“Walk me through your resume.”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Tell a 90-second story: where you started, the key steps, why this role is next.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Questions interviewers ask</a:t>
            </a:r>
            <a:endParaRPr lang="en-US" sz="3200" dirty="0"/>
          </a:p>
        </p:txBody>
      </p:sp>
      <p:graphicFrame>
        <p:nvGraphicFramePr>
          <p:cNvPr id="10" name="Ques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937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Question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to answer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Why did you leave your last job?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Focus on what you are moving toward. Stay positive and brief.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What is this gap in your employment?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Give the reason in 1–2 sentences, then what you learned and why you are ready.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Which skill is your strongest?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Pick one that fits the job. Back it with an example and a result.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Is everything on your resume accurate?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Yes, always. Employers verify titles, dates, and numbers.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Write for software and people</a:t>
            </a:r>
            <a:endParaRPr lang="en-US" sz="3200" dirty="0"/>
          </a:p>
        </p:txBody>
      </p:sp>
      <p:sp>
        <p:nvSpPr>
          <p:cNvPr id="3" name="Do card"/>
          <p:cNvSpPr/>
          <p:nvPr/>
        </p:nvSpPr>
        <p:spPr>
          <a:xfrm>
            <a:off x="548640" y="132588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 circle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Do icon" descr="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164454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One-column layout, standard headings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Common fonts: Arial, Calibri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Exact keywords from the posting, if true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PDF or .docx, as requested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tailored copy for each job</a:t>
            </a:r>
            <a:endParaRPr lang="en-US" sz="1600" dirty="0"/>
          </a:p>
        </p:txBody>
      </p:sp>
      <p:sp>
        <p:nvSpPr>
          <p:cNvPr id="8" name="Avoid card"/>
          <p:cNvSpPr/>
          <p:nvPr/>
        </p:nvSpPr>
        <p:spPr>
          <a:xfrm>
            <a:off x="4663440" y="132588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void circle"/>
          <p:cNvSpPr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Avoid icon" descr="Avo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828" y="164454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Avoid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1945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Text boxes, tables, headers, or footers for key details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Images of text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Hidden white-text keywords: they get you rejected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Graphics that confuse parsers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Final checklist</a:t>
            </a:r>
            <a:endParaRPr lang="en-US" sz="3200" dirty="0"/>
          </a:p>
        </p:txBody>
      </p:sp>
      <p:sp>
        <p:nvSpPr>
          <p:cNvPr id="3" name="Check row 1"/>
          <p:cNvSpPr/>
          <p:nvPr/>
        </p:nvSpPr>
        <p:spPr>
          <a:xfrm>
            <a:off x="548640" y="1325880"/>
            <a:ext cx="3931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eck 1 circle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Check 1 icon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1561795"/>
            <a:ext cx="168250" cy="1682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25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Contact details correct; professional email</a:t>
            </a:r>
            <a:endParaRPr lang="en-US" sz="1400" dirty="0"/>
          </a:p>
        </p:txBody>
      </p:sp>
      <p:sp>
        <p:nvSpPr>
          <p:cNvPr id="7" name="Check row 2"/>
          <p:cNvSpPr/>
          <p:nvPr/>
        </p:nvSpPr>
        <p:spPr>
          <a:xfrm>
            <a:off x="4663440" y="1325880"/>
            <a:ext cx="3931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eck 2 circle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Check 2 icon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75" y="1561795"/>
            <a:ext cx="168250" cy="1682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49240" y="1325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or two pages; consistent format</a:t>
            </a:r>
            <a:endParaRPr lang="en-US" sz="1400" dirty="0"/>
          </a:p>
        </p:txBody>
      </p:sp>
      <p:sp>
        <p:nvSpPr>
          <p:cNvPr id="11" name="Check row 3"/>
          <p:cNvSpPr/>
          <p:nvPr/>
        </p:nvSpPr>
        <p:spPr>
          <a:xfrm>
            <a:off x="548640" y="2103120"/>
            <a:ext cx="3931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heck 3 circle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Check 3 icon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2339035"/>
            <a:ext cx="168250" cy="1682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Summary names your role and best result</a:t>
            </a:r>
            <a:endParaRPr lang="en-US" sz="1400" dirty="0"/>
          </a:p>
        </p:txBody>
      </p:sp>
      <p:sp>
        <p:nvSpPr>
          <p:cNvPr id="15" name="Check row 4"/>
          <p:cNvSpPr/>
          <p:nvPr/>
        </p:nvSpPr>
        <p:spPr>
          <a:xfrm>
            <a:off x="4663440" y="2103120"/>
            <a:ext cx="3931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heck 4 circle"/>
          <p:cNvSpPr/>
          <p:nvPr/>
        </p:nvSpPr>
        <p:spPr>
          <a:xfrm>
            <a:off x="4846320" y="22402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Check 4 icon" descr="Chec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075" y="2339035"/>
            <a:ext cx="168250" cy="16825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492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Recent roles show results with numbers</a:t>
            </a:r>
            <a:endParaRPr lang="en-US" sz="1400" dirty="0"/>
          </a:p>
        </p:txBody>
      </p:sp>
      <p:sp>
        <p:nvSpPr>
          <p:cNvPr id="19" name="Check row 5"/>
          <p:cNvSpPr/>
          <p:nvPr/>
        </p:nvSpPr>
        <p:spPr>
          <a:xfrm>
            <a:off x="548640" y="2880360"/>
            <a:ext cx="3931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heck 5 circle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Check 5 icon" descr="Check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" y="3116275"/>
            <a:ext cx="168250" cy="16825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Keywords match the posting, truthfully</a:t>
            </a:r>
            <a:endParaRPr lang="en-US" sz="1400" dirty="0"/>
          </a:p>
        </p:txBody>
      </p:sp>
      <p:sp>
        <p:nvSpPr>
          <p:cNvPr id="23" name="Check row 6"/>
          <p:cNvSpPr/>
          <p:nvPr/>
        </p:nvSpPr>
        <p:spPr>
          <a:xfrm>
            <a:off x="4663440" y="2880360"/>
            <a:ext cx="3931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heck 6 circle"/>
          <p:cNvSpPr/>
          <p:nvPr/>
        </p:nvSpPr>
        <p:spPr>
          <a:xfrm>
            <a:off x="4846320" y="301752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Check 6 icon" descr="Check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075" y="3116275"/>
            <a:ext cx="168250" cy="16825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4924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typos or date errors; read it aloud</a:t>
            </a:r>
            <a:endParaRPr lang="en-US" sz="1400" dirty="0"/>
          </a:p>
        </p:txBody>
      </p:sp>
      <p:sp>
        <p:nvSpPr>
          <p:cNvPr id="27" name="Check row 7"/>
          <p:cNvSpPr/>
          <p:nvPr/>
        </p:nvSpPr>
        <p:spPr>
          <a:xfrm>
            <a:off x="548640" y="3657600"/>
            <a:ext cx="3931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Check 7 circle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Check 7 icon" descr="Check 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" y="3893515"/>
            <a:ext cx="168250" cy="16825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23444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line is accurate and explainable</a:t>
            </a:r>
            <a:endParaRPr lang="en-US" sz="1400" dirty="0"/>
          </a:p>
        </p:txBody>
      </p:sp>
      <p:sp>
        <p:nvSpPr>
          <p:cNvPr id="31" name="Check row 8"/>
          <p:cNvSpPr/>
          <p:nvPr/>
        </p:nvSpPr>
        <p:spPr>
          <a:xfrm>
            <a:off x="4663440" y="3657600"/>
            <a:ext cx="3931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Check 8 circle"/>
          <p:cNvSpPr/>
          <p:nvPr/>
        </p:nvSpPr>
        <p:spPr>
          <a:xfrm>
            <a:off x="4846320" y="379476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Check 8 icon" descr="Check 8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5075" y="3893515"/>
            <a:ext cx="168250" cy="16825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34924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PDF named FirstName-LastName-Resume.pdf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1887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Tailor it. Prove it. Explain it.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Keep a master resume, tailor each copy, and be ready to discuss every line.</a:t>
            </a:r>
            <a:endParaRPr lang="en-US" sz="1800" dirty="0"/>
          </a:p>
        </p:txBody>
      </p:sp>
      <p:sp>
        <p:nvSpPr>
          <p:cNvPr id="4" name="Done circle"/>
          <p:cNvSpPr/>
          <p:nvPr/>
        </p:nvSpPr>
        <p:spPr>
          <a:xfrm>
            <a:off x="6766560" y="1554480"/>
            <a:ext cx="1645920" cy="1645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Done icon" descr="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0958" y="1998878"/>
            <a:ext cx="757123" cy="7571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sume Guide">
  <a:themeElements>
    <a:clrScheme name="Resume Guide">
      <a:dk1>
        <a:srgbClr val="1C2B33"/>
      </a:dk1>
      <a:lt1>
        <a:srgbClr val="FFFFFF"/>
      </a:lt1>
      <a:dk2>
        <a:srgbClr val="0B4F5C"/>
      </a:dk2>
      <a:lt2>
        <a:srgbClr val="E6F0F1"/>
      </a:lt2>
      <a:accent1>
        <a:srgbClr val="0B4F5C"/>
      </a:accent1>
      <a:accent2>
        <a:srgbClr val="E8590C"/>
      </a:accent2>
      <a:accent3>
        <a:srgbClr val="2A9D8F"/>
      </a:accent3>
      <a:accent4>
        <a:srgbClr val="F4A261"/>
      </a:accent4>
      <a:accent5>
        <a:srgbClr val="6C757D"/>
      </a:accent5>
      <a:accent6>
        <a:srgbClr val="264653"/>
      </a:accent6>
      <a:hlink>
        <a:srgbClr val="0B4F5C"/>
      </a:hlink>
      <a:folHlink>
        <a:srgbClr val="6C757D"/>
      </a:folHlink>
    </a:clrScheme>
    <a:fontScheme name="Resume Gui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Questions &amp; Answers Guide</dc:title>
  <dc:subject>PptxGenJS Presentation</dc:subject>
  <dc:creator>PptxGenJS</dc:creator>
  <cp:lastModifiedBy>PptxGenJS</cp:lastModifiedBy>
  <cp:revision>1</cp:revision>
  <dcterms:created xsi:type="dcterms:W3CDTF">2026-10-10T08:31:26Z</dcterms:created>
  <dcterms:modified xsi:type="dcterms:W3CDTF">2026-10-10T08:31:26Z</dcterms:modified>
</cp:coreProperties>
</file>